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00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33"/>
    <p:restoredTop sz="94725"/>
  </p:normalViewPr>
  <p:slideViewPr>
    <p:cSldViewPr snapToGrid="0">
      <p:cViewPr>
        <p:scale>
          <a:sx n="100" d="100"/>
          <a:sy n="100" d="100"/>
        </p:scale>
        <p:origin x="1616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AD3E95-713F-244B-A114-147D6DFCBFB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1E9A9-573D-0943-9150-DA997CE58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871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1E9A9-573D-0943-9150-DA997CE583F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83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A075-397B-5186-1B44-B03729E9BC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95FD9-AA16-17A8-E779-C3E83A395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669DB-B01D-E6C7-FDDE-AB84F74D6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FD003-149A-C24F-BFA5-6D2FB4C2E07D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E0B7C-66EC-E84B-47CF-13E486A86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76E8E-13D7-6CA7-EFB1-86E63FD53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2EFF-0F46-E34A-A704-F2A04D27C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248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00A02-334E-50A7-3FF9-347B430A6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47BB7-4FC5-DF3F-9DA5-7C2F64669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21F9C-81BC-D071-54C5-6320E7FE3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FD003-149A-C24F-BFA5-6D2FB4C2E07D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BA92A-9B6D-F6E2-E374-6F7DFC04B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0450C-14EA-75D1-49B4-C6DCF84EF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2EFF-0F46-E34A-A704-F2A04D27C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34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69548-72D7-9E40-E036-12268D375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F80E9-7D46-85BE-D56E-4C2901FAF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6720-3C4F-DBBE-7B64-3C744CDA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FD003-149A-C24F-BFA5-6D2FB4C2E07D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D0EFF-AA48-028D-27A7-C48E9068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47B56-DEB2-AEA1-CE01-E6C8F318D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2EFF-0F46-E34A-A704-F2A04D27C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2654-F510-DE78-2B25-EDCBEBDA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943E0-DED4-E304-7453-DA1D1E3486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03E98-40EB-1CEC-3DBF-45EE5135D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F0331-3D9B-8DD3-08BD-E7505A61C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FD003-149A-C24F-BFA5-6D2FB4C2E07D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DB98A-5117-5D2E-B549-E1DDF1E10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81DE5-CADA-2405-BCCB-DAA34DA22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2EFF-0F46-E34A-A704-F2A04D27C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006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7ECC6-D55E-3620-F958-A93B80F7E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1E461-C801-E60F-9E83-5228F64AD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0FCE2F-2383-FFF3-BCA5-AC26B8451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17768-81EC-6770-4078-AD111A823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E7E42-C65C-E92F-50F9-93F68A346C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8CD083-8C2D-89E0-F393-1435E1CCA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FD003-149A-C24F-BFA5-6D2FB4C2E07D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6DA4EA-4AC5-0613-E7E9-E4545E7F2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44FBF7-0E57-5779-761C-EB4800564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2EFF-0F46-E34A-A704-F2A04D27C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93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C477B-9610-F388-8E57-7682C787E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4D8756-28B8-58FF-86EB-4A18E332E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FD003-149A-C24F-BFA5-6D2FB4C2E07D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5526FB-1333-F140-22B4-FC02F8CE9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EBEA32-1527-A36B-F020-A1547F818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2EFF-0F46-E34A-A704-F2A04D27C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7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F3B80A-2D14-E71E-D48D-0E824751C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FD003-149A-C24F-BFA5-6D2FB4C2E07D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4D20C9-33B7-6A52-93DC-88ED71775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ABA3B-D2B4-E973-415B-F57AB2F70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2EFF-0F46-E34A-A704-F2A04D27C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16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D9C8A-5C5E-E6B6-3346-93A1B004E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F6033-F746-53F1-F91D-49ADD7CA3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187463-FCEA-FD7E-CF47-6EBBB1D35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1E37DA-A8C2-57EA-870C-28C39792D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FD003-149A-C24F-BFA5-6D2FB4C2E07D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C6D7A-666E-CEE8-D6E5-761ABA39A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3394C-547B-11AE-6513-9725F6C0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2EFF-0F46-E34A-A704-F2A04D27C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10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FD85C-D0DA-DBB7-075A-7DC1E9636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9A38D3-9387-C4FF-605D-96B82794A9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9F225-F8EC-72D0-544E-24B8D9A69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8E2AB-C8D4-6444-EBF4-923312302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FD003-149A-C24F-BFA5-6D2FB4C2E07D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11577-FF46-5C2E-4271-7AA03D76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EE062-C8C8-67FB-0EF1-3A9FE299C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2EFF-0F46-E34A-A704-F2A04D27C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81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5A05D-58A3-B4DB-E0D2-7B8B6BA3B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47E6E8-10D2-B29B-907F-2915D5483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8E844-3860-B691-6E29-8162E9553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FD003-149A-C24F-BFA5-6D2FB4C2E07D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0274A-9483-CEA6-7F09-0B960D40C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B5845-07DB-C04A-6B1D-7D6A943D9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2EFF-0F46-E34A-A704-F2A04D27C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62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2E598C-7E66-23E2-3785-BBF632244E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453CDD-8606-F3D7-DD45-8FD5ACEAC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858FC-2CCE-FE57-83EE-488F2CEFB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FD003-149A-C24F-BFA5-6D2FB4C2E07D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5ECD9-DF3E-0713-660F-3A5ED411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BF9FB-BE71-A7B7-84E2-860A1635B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2EFF-0F46-E34A-A704-F2A04D27C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83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51E63-B835-A776-E965-C46FD6822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729B5-DE8C-E5D3-C3A2-7413DACEE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F3EA0-C10B-85B9-E37F-72EB9AA77A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FFD003-149A-C24F-BFA5-6D2FB4C2E07D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2436D-FF48-3BEC-E5F8-B8F63FC08B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16BC4-3891-3BD9-EB37-E60557D1B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312EFF-0F46-E34A-A704-F2A04D27C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80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4091521-2B8B-980D-97BC-69FA81FFFCFE}"/>
              </a:ext>
            </a:extLst>
          </p:cNvPr>
          <p:cNvSpPr/>
          <p:nvPr/>
        </p:nvSpPr>
        <p:spPr>
          <a:xfrm>
            <a:off x="2916117" y="1806948"/>
            <a:ext cx="1813987" cy="3159032"/>
          </a:xfrm>
          <a:prstGeom prst="roundRect">
            <a:avLst>
              <a:gd name="adj" fmla="val 8955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28FDA378-B402-849B-7FA9-01225CF7501A}"/>
              </a:ext>
            </a:extLst>
          </p:cNvPr>
          <p:cNvSpPr/>
          <p:nvPr/>
        </p:nvSpPr>
        <p:spPr>
          <a:xfrm>
            <a:off x="4981793" y="1790700"/>
            <a:ext cx="2297718" cy="3159032"/>
          </a:xfrm>
          <a:prstGeom prst="roundRect">
            <a:avLst>
              <a:gd name="adj" fmla="val 8955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0A42FBD-73FB-5230-715E-9D59FE0E74CD}"/>
              </a:ext>
            </a:extLst>
          </p:cNvPr>
          <p:cNvSpPr/>
          <p:nvPr/>
        </p:nvSpPr>
        <p:spPr>
          <a:xfrm>
            <a:off x="7541031" y="1724638"/>
            <a:ext cx="2110554" cy="3159032"/>
          </a:xfrm>
          <a:prstGeom prst="roundRect">
            <a:avLst>
              <a:gd name="adj" fmla="val 8955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BFEC02C2-7A31-1084-819D-9F6A5BD1C5A1}"/>
              </a:ext>
            </a:extLst>
          </p:cNvPr>
          <p:cNvSpPr/>
          <p:nvPr/>
        </p:nvSpPr>
        <p:spPr>
          <a:xfrm>
            <a:off x="9838748" y="1724638"/>
            <a:ext cx="2254463" cy="3159032"/>
          </a:xfrm>
          <a:prstGeom prst="roundRect">
            <a:avLst>
              <a:gd name="adj" fmla="val 8955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2229468-5AC3-4E2F-5CA8-9EC7CB5D5CD6}"/>
              </a:ext>
            </a:extLst>
          </p:cNvPr>
          <p:cNvSpPr/>
          <p:nvPr/>
        </p:nvSpPr>
        <p:spPr>
          <a:xfrm>
            <a:off x="181711" y="1806948"/>
            <a:ext cx="2461063" cy="3159032"/>
          </a:xfrm>
          <a:prstGeom prst="roundRect">
            <a:avLst>
              <a:gd name="adj" fmla="val 8955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Inpatient with solid fill">
            <a:extLst>
              <a:ext uri="{FF2B5EF4-FFF2-40B4-BE49-F238E27FC236}">
                <a16:creationId xmlns:a16="http://schemas.microsoft.com/office/drawing/2014/main" id="{C2DC9547-313C-C392-D073-735BEE13B6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3247" y="2699908"/>
            <a:ext cx="914400" cy="914400"/>
          </a:xfrm>
          <a:prstGeom prst="rect">
            <a:avLst/>
          </a:prstGeom>
        </p:spPr>
      </p:pic>
      <p:pic>
        <p:nvPicPr>
          <p:cNvPr id="7" name="Graphic 6" descr="DNA with solid fill">
            <a:extLst>
              <a:ext uri="{FF2B5EF4-FFF2-40B4-BE49-F238E27FC236}">
                <a16:creationId xmlns:a16="http://schemas.microsoft.com/office/drawing/2014/main" id="{CA1F69F5-69F6-4437-1C9C-7293B43EFB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15705" y="2670885"/>
            <a:ext cx="914400" cy="914400"/>
          </a:xfrm>
          <a:prstGeom prst="rect">
            <a:avLst/>
          </a:prstGeom>
        </p:spPr>
      </p:pic>
      <p:pic>
        <p:nvPicPr>
          <p:cNvPr id="11" name="Graphic 10" descr="Transfer with solid fill">
            <a:extLst>
              <a:ext uri="{FF2B5EF4-FFF2-40B4-BE49-F238E27FC236}">
                <a16:creationId xmlns:a16="http://schemas.microsoft.com/office/drawing/2014/main" id="{8DF9D67D-D27E-723A-0C9F-6A1216988E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90354" y="2699908"/>
            <a:ext cx="914400" cy="914400"/>
          </a:xfrm>
          <a:prstGeom prst="rect">
            <a:avLst/>
          </a:prstGeom>
        </p:spPr>
      </p:pic>
      <p:pic>
        <p:nvPicPr>
          <p:cNvPr id="13" name="Graphic 12" descr="Hospital with solid fill">
            <a:extLst>
              <a:ext uri="{FF2B5EF4-FFF2-40B4-BE49-F238E27FC236}">
                <a16:creationId xmlns:a16="http://schemas.microsoft.com/office/drawing/2014/main" id="{7D074EF2-48DB-CD0A-1CEF-6136DDC218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09145" y="2705244"/>
            <a:ext cx="914400" cy="914400"/>
          </a:xfrm>
          <a:prstGeom prst="rect">
            <a:avLst/>
          </a:prstGeom>
        </p:spPr>
      </p:pic>
      <p:pic>
        <p:nvPicPr>
          <p:cNvPr id="17" name="Graphic 16" descr="Future with solid fill">
            <a:extLst>
              <a:ext uri="{FF2B5EF4-FFF2-40B4-BE49-F238E27FC236}">
                <a16:creationId xmlns:a16="http://schemas.microsoft.com/office/drawing/2014/main" id="{83F51421-B216-E94B-E803-ED9AB40AE79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29527" y="2705244"/>
            <a:ext cx="914400" cy="914400"/>
          </a:xfrm>
          <a:prstGeom prst="rect">
            <a:avLst/>
          </a:prstGeom>
        </p:spPr>
      </p:pic>
      <p:pic>
        <p:nvPicPr>
          <p:cNvPr id="19" name="Graphic 18" descr="Database with solid fill">
            <a:extLst>
              <a:ext uri="{FF2B5EF4-FFF2-40B4-BE49-F238E27FC236}">
                <a16:creationId xmlns:a16="http://schemas.microsoft.com/office/drawing/2014/main" id="{87AFDA16-CBE5-2FE3-AAC7-3AAAAF946EC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8847" y="2699908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5443808-8219-E320-DFBC-BA0400677BC8}"/>
              </a:ext>
            </a:extLst>
          </p:cNvPr>
          <p:cNvSpPr txBox="1"/>
          <p:nvPr/>
        </p:nvSpPr>
        <p:spPr>
          <a:xfrm>
            <a:off x="2625097" y="727724"/>
            <a:ext cx="6528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432FF"/>
                </a:solidFill>
              </a:rPr>
              <a:t>Variant Calling Pipeline for ctDNA Biomarkers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761A10-F06F-3206-EFE5-2D3F96735F9F}"/>
              </a:ext>
            </a:extLst>
          </p:cNvPr>
          <p:cNvSpPr txBox="1"/>
          <p:nvPr/>
        </p:nvSpPr>
        <p:spPr>
          <a:xfrm>
            <a:off x="272624" y="1871132"/>
            <a:ext cx="22544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Data Acquisition</a:t>
            </a:r>
          </a:p>
          <a:p>
            <a:pPr algn="ctr"/>
            <a:r>
              <a:rPr lang="en-US" sz="2000" dirty="0"/>
              <a:t>&amp; Patient selection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33249E-2097-EF81-0D3F-1C0AABADFC05}"/>
              </a:ext>
            </a:extLst>
          </p:cNvPr>
          <p:cNvSpPr txBox="1"/>
          <p:nvPr/>
        </p:nvSpPr>
        <p:spPr>
          <a:xfrm>
            <a:off x="3055146" y="1871132"/>
            <a:ext cx="15085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Reference sequence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101455-D5D2-7D2F-A652-BDBD0FB49CD3}"/>
              </a:ext>
            </a:extLst>
          </p:cNvPr>
          <p:cNvSpPr txBox="1"/>
          <p:nvPr/>
        </p:nvSpPr>
        <p:spPr>
          <a:xfrm>
            <a:off x="5079647" y="1871132"/>
            <a:ext cx="2065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Alignment &amp; QC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E867F9-A639-ABF7-B510-EB8DE004302B}"/>
              </a:ext>
            </a:extLst>
          </p:cNvPr>
          <p:cNvSpPr txBox="1"/>
          <p:nvPr/>
        </p:nvSpPr>
        <p:spPr>
          <a:xfrm>
            <a:off x="7705048" y="1871132"/>
            <a:ext cx="1795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Variant Calling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18C8FD-DA32-37D5-4DCB-6F655035CE62}"/>
              </a:ext>
            </a:extLst>
          </p:cNvPr>
          <p:cNvSpPr txBox="1"/>
          <p:nvPr/>
        </p:nvSpPr>
        <p:spPr>
          <a:xfrm>
            <a:off x="9838748" y="1871132"/>
            <a:ext cx="2254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Clinical Biomarker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9FCCE4-F54C-5BA3-0414-88E63C46E6C0}"/>
              </a:ext>
            </a:extLst>
          </p:cNvPr>
          <p:cNvSpPr txBox="1"/>
          <p:nvPr/>
        </p:nvSpPr>
        <p:spPr>
          <a:xfrm>
            <a:off x="0" y="3755652"/>
            <a:ext cx="27997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SRA metadata</a:t>
            </a:r>
          </a:p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Select ctDNA samples</a:t>
            </a:r>
          </a:p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Patients  (3 time points)</a:t>
            </a:r>
          </a:p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Download FASTQ files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C5C1EA-5F42-35E6-C45E-8DE49625DDF4}"/>
              </a:ext>
            </a:extLst>
          </p:cNvPr>
          <p:cNvSpPr txBox="1"/>
          <p:nvPr/>
        </p:nvSpPr>
        <p:spPr>
          <a:xfrm>
            <a:off x="3051943" y="4001874"/>
            <a:ext cx="16419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Human genome </a:t>
            </a:r>
          </a:p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GRCh38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09914D-F47D-14C0-F7BE-897AB3CBC805}"/>
              </a:ext>
            </a:extLst>
          </p:cNvPr>
          <p:cNvSpPr txBox="1"/>
          <p:nvPr/>
        </p:nvSpPr>
        <p:spPr>
          <a:xfrm>
            <a:off x="4955387" y="4001874"/>
            <a:ext cx="2297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Alignment: BWA-MEM</a:t>
            </a:r>
          </a:p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Duplicate removal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5C7C19-CC92-4A0F-E39A-C73965E2005F}"/>
              </a:ext>
            </a:extLst>
          </p:cNvPr>
          <p:cNvSpPr txBox="1"/>
          <p:nvPr/>
        </p:nvSpPr>
        <p:spPr>
          <a:xfrm>
            <a:off x="7580033" y="4124984"/>
            <a:ext cx="19691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Identify SNPs/indels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BB16AD0-FE8E-B45A-DD88-136F1DEB5D5B}"/>
              </a:ext>
            </a:extLst>
          </p:cNvPr>
          <p:cNvGrpSpPr/>
          <p:nvPr/>
        </p:nvGrpSpPr>
        <p:grpSpPr>
          <a:xfrm>
            <a:off x="7966848" y="2525121"/>
            <a:ext cx="1195562" cy="1222807"/>
            <a:chOff x="7820604" y="2499721"/>
            <a:chExt cx="1195562" cy="1222807"/>
          </a:xfrm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66B9C2D1-D5FB-72FB-86F7-05AF2CBEE514}"/>
                </a:ext>
              </a:extLst>
            </p:cNvPr>
            <p:cNvSpPr/>
            <p:nvPr/>
          </p:nvSpPr>
          <p:spPr>
            <a:xfrm>
              <a:off x="7820604" y="2499721"/>
              <a:ext cx="1195562" cy="1222807"/>
            </a:xfrm>
            <a:custGeom>
              <a:avLst/>
              <a:gdLst>
                <a:gd name="csX0" fmla="*/ 616273 w 753670"/>
                <a:gd name="csY0" fmla="*/ 521975 h 754623"/>
                <a:gd name="csX1" fmla="*/ 557218 w 753670"/>
                <a:gd name="csY1" fmla="*/ 503878 h 754623"/>
                <a:gd name="csX2" fmla="*/ 514355 w 753670"/>
                <a:gd name="csY2" fmla="*/ 461968 h 754623"/>
                <a:gd name="csX3" fmla="*/ 573410 w 753670"/>
                <a:gd name="csY3" fmla="*/ 288613 h 754623"/>
                <a:gd name="csX4" fmla="*/ 287660 w 753670"/>
                <a:gd name="csY4" fmla="*/ 5 h 754623"/>
                <a:gd name="csX5" fmla="*/ 5 w 753670"/>
                <a:gd name="csY5" fmla="*/ 285755 h 754623"/>
                <a:gd name="csX6" fmla="*/ 285755 w 753670"/>
                <a:gd name="csY6" fmla="*/ 573410 h 754623"/>
                <a:gd name="csX7" fmla="*/ 461015 w 753670"/>
                <a:gd name="csY7" fmla="*/ 514355 h 754623"/>
                <a:gd name="csX8" fmla="*/ 502925 w 753670"/>
                <a:gd name="csY8" fmla="*/ 556265 h 754623"/>
                <a:gd name="csX9" fmla="*/ 521023 w 753670"/>
                <a:gd name="csY9" fmla="*/ 616273 h 754623"/>
                <a:gd name="csX10" fmla="*/ 640085 w 753670"/>
                <a:gd name="csY10" fmla="*/ 735335 h 754623"/>
                <a:gd name="csX11" fmla="*/ 734383 w 753670"/>
                <a:gd name="csY11" fmla="*/ 735335 h 754623"/>
                <a:gd name="csX12" fmla="*/ 734383 w 753670"/>
                <a:gd name="csY12" fmla="*/ 641038 h 754623"/>
                <a:gd name="csX13" fmla="*/ 616273 w 753670"/>
                <a:gd name="csY13" fmla="*/ 521975 h 754623"/>
                <a:gd name="csX14" fmla="*/ 287660 w 753670"/>
                <a:gd name="csY14" fmla="*/ 516260 h 754623"/>
                <a:gd name="csX15" fmla="*/ 59060 w 753670"/>
                <a:gd name="csY15" fmla="*/ 287660 h 754623"/>
                <a:gd name="csX16" fmla="*/ 287660 w 753670"/>
                <a:gd name="csY16" fmla="*/ 59060 h 754623"/>
                <a:gd name="csX17" fmla="*/ 516260 w 753670"/>
                <a:gd name="csY17" fmla="*/ 287660 h 754623"/>
                <a:gd name="csX18" fmla="*/ 287660 w 753670"/>
                <a:gd name="csY18" fmla="*/ 516260 h 7546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753670" h="754623">
                  <a:moveTo>
                    <a:pt x="616273" y="521975"/>
                  </a:moveTo>
                  <a:cubicBezTo>
                    <a:pt x="601033" y="506735"/>
                    <a:pt x="578173" y="499115"/>
                    <a:pt x="557218" y="503878"/>
                  </a:cubicBezTo>
                  <a:lnTo>
                    <a:pt x="514355" y="461968"/>
                  </a:lnTo>
                  <a:cubicBezTo>
                    <a:pt x="552455" y="412438"/>
                    <a:pt x="573410" y="351478"/>
                    <a:pt x="573410" y="288613"/>
                  </a:cubicBezTo>
                  <a:cubicBezTo>
                    <a:pt x="574363" y="129545"/>
                    <a:pt x="445775" y="958"/>
                    <a:pt x="287660" y="5"/>
                  </a:cubicBezTo>
                  <a:cubicBezTo>
                    <a:pt x="129545" y="-947"/>
                    <a:pt x="958" y="127640"/>
                    <a:pt x="5" y="285755"/>
                  </a:cubicBezTo>
                  <a:cubicBezTo>
                    <a:pt x="-947" y="443870"/>
                    <a:pt x="127640" y="572458"/>
                    <a:pt x="285755" y="573410"/>
                  </a:cubicBezTo>
                  <a:cubicBezTo>
                    <a:pt x="348620" y="573410"/>
                    <a:pt x="410533" y="552455"/>
                    <a:pt x="461015" y="514355"/>
                  </a:cubicBezTo>
                  <a:lnTo>
                    <a:pt x="502925" y="556265"/>
                  </a:lnTo>
                  <a:cubicBezTo>
                    <a:pt x="499115" y="578173"/>
                    <a:pt x="505783" y="600080"/>
                    <a:pt x="521023" y="616273"/>
                  </a:cubicBezTo>
                  <a:lnTo>
                    <a:pt x="640085" y="735335"/>
                  </a:lnTo>
                  <a:cubicBezTo>
                    <a:pt x="665803" y="761053"/>
                    <a:pt x="708665" y="761053"/>
                    <a:pt x="734383" y="735335"/>
                  </a:cubicBezTo>
                  <a:cubicBezTo>
                    <a:pt x="760100" y="709618"/>
                    <a:pt x="760100" y="666755"/>
                    <a:pt x="734383" y="641038"/>
                  </a:cubicBezTo>
                  <a:lnTo>
                    <a:pt x="616273" y="521975"/>
                  </a:lnTo>
                  <a:close/>
                  <a:moveTo>
                    <a:pt x="287660" y="516260"/>
                  </a:moveTo>
                  <a:cubicBezTo>
                    <a:pt x="160978" y="516260"/>
                    <a:pt x="59060" y="414343"/>
                    <a:pt x="59060" y="287660"/>
                  </a:cubicBezTo>
                  <a:cubicBezTo>
                    <a:pt x="59060" y="160978"/>
                    <a:pt x="160978" y="59060"/>
                    <a:pt x="287660" y="59060"/>
                  </a:cubicBezTo>
                  <a:cubicBezTo>
                    <a:pt x="414343" y="59060"/>
                    <a:pt x="516260" y="160978"/>
                    <a:pt x="516260" y="287660"/>
                  </a:cubicBezTo>
                  <a:cubicBezTo>
                    <a:pt x="516260" y="413390"/>
                    <a:pt x="413390" y="516260"/>
                    <a:pt x="287660" y="516260"/>
                  </a:cubicBezTo>
                  <a:close/>
                </a:path>
              </a:pathLst>
            </a:custGeom>
            <a:solidFill>
              <a:srgbClr val="0432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F441591-7F17-7914-E699-1F1E9F362A3E}"/>
                </a:ext>
              </a:extLst>
            </p:cNvPr>
            <p:cNvGrpSpPr/>
            <p:nvPr/>
          </p:nvGrpSpPr>
          <p:grpSpPr>
            <a:xfrm>
              <a:off x="7910872" y="2645485"/>
              <a:ext cx="758602" cy="652773"/>
              <a:chOff x="7852313" y="2238928"/>
              <a:chExt cx="1008457" cy="1008457"/>
            </a:xfrm>
          </p:grpSpPr>
          <p:pic>
            <p:nvPicPr>
              <p:cNvPr id="31" name="Graphic 30" descr="DNA with solid fill">
                <a:extLst>
                  <a:ext uri="{FF2B5EF4-FFF2-40B4-BE49-F238E27FC236}">
                    <a16:creationId xmlns:a16="http://schemas.microsoft.com/office/drawing/2014/main" id="{0071961D-FB69-73A7-4390-BAD86BD7E5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185355">
                <a:off x="7852313" y="2238928"/>
                <a:ext cx="1008457" cy="1008457"/>
              </a:xfrm>
              <a:prstGeom prst="rect">
                <a:avLst/>
              </a:prstGeom>
            </p:spPr>
          </p:pic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F000645-BDA0-1658-6217-7FDF9378297E}"/>
                  </a:ext>
                </a:extLst>
              </p:cNvPr>
              <p:cNvSpPr/>
              <p:nvPr/>
            </p:nvSpPr>
            <p:spPr>
              <a:xfrm rot="21411072">
                <a:off x="8404994" y="2582270"/>
                <a:ext cx="64638" cy="340247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397234B-D415-8AEE-7C40-92F74F07F83E}"/>
              </a:ext>
            </a:extLst>
          </p:cNvPr>
          <p:cNvSpPr txBox="1"/>
          <p:nvPr/>
        </p:nvSpPr>
        <p:spPr>
          <a:xfrm>
            <a:off x="9988079" y="4001874"/>
            <a:ext cx="195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Selecting a persistent variable (Tractable Signal)</a:t>
            </a:r>
          </a:p>
        </p:txBody>
      </p:sp>
    </p:spTree>
    <p:extLst>
      <p:ext uri="{BB962C8B-B14F-4D97-AF65-F5344CB8AC3E}">
        <p14:creationId xmlns:p14="http://schemas.microsoft.com/office/powerpoint/2010/main" val="1893840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55</Words>
  <Application>Microsoft Macintosh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Aguilera De Lira, Luis U</dc:creator>
  <cp:lastModifiedBy>Aguilera De Lira, Luis U</cp:lastModifiedBy>
  <cp:revision>7</cp:revision>
  <dcterms:created xsi:type="dcterms:W3CDTF">2025-11-15T19:33:21Z</dcterms:created>
  <dcterms:modified xsi:type="dcterms:W3CDTF">2025-11-15T22:45:32Z</dcterms:modified>
</cp:coreProperties>
</file>